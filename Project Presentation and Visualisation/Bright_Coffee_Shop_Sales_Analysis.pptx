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1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642DB2-EB76-490C-8B83-0168975A1F1F}" v="19" dt="2026-08-01T22:58:58.3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ynthia Phakela" userId="c8f80bf6c917b871" providerId="LiveId" clId="{F54073B2-9C06-4A55-B0C3-A9FE66167EDA}"/>
    <pc:docChg chg="undo redo custSel modSld modMainMaster">
      <pc:chgData name="Cynthia Phakela" userId="c8f80bf6c917b871" providerId="LiveId" clId="{F54073B2-9C06-4A55-B0C3-A9FE66167EDA}" dt="2026-08-02T17:44:16.384" v="206" actId="14100"/>
      <pc:docMkLst>
        <pc:docMk/>
      </pc:docMkLst>
      <pc:sldChg chg="addSp modSp mod">
        <pc:chgData name="Cynthia Phakela" userId="c8f80bf6c917b871" providerId="LiveId" clId="{F54073B2-9C06-4A55-B0C3-A9FE66167EDA}" dt="2026-08-01T22:58:16.292" v="194" actId="29295"/>
        <pc:sldMkLst>
          <pc:docMk/>
          <pc:sldMk cId="0" sldId="256"/>
        </pc:sldMkLst>
        <pc:picChg chg="add mod">
          <ac:chgData name="Cynthia Phakela" userId="c8f80bf6c917b871" providerId="LiveId" clId="{F54073B2-9C06-4A55-B0C3-A9FE66167EDA}" dt="2026-08-01T22:58:16.292" v="194" actId="29295"/>
          <ac:picMkLst>
            <pc:docMk/>
            <pc:sldMk cId="0" sldId="256"/>
            <ac:picMk id="13" creationId="{664DE03B-245E-F8A6-43E5-D6EBCD4BF642}"/>
          </ac:picMkLst>
        </pc:picChg>
      </pc:sldChg>
      <pc:sldChg chg="modSp mod">
        <pc:chgData name="Cynthia Phakela" userId="c8f80bf6c917b871" providerId="LiveId" clId="{F54073B2-9C06-4A55-B0C3-A9FE66167EDA}" dt="2026-08-01T22:51:17.405" v="17" actId="27636"/>
        <pc:sldMkLst>
          <pc:docMk/>
          <pc:sldMk cId="0" sldId="257"/>
        </pc:sldMkLst>
        <pc:spChg chg="mod">
          <ac:chgData name="Cynthia Phakela" userId="c8f80bf6c917b871" providerId="LiveId" clId="{F54073B2-9C06-4A55-B0C3-A9FE66167EDA}" dt="2026-08-01T22:51:17.405" v="17" actId="27636"/>
          <ac:spMkLst>
            <pc:docMk/>
            <pc:sldMk cId="0" sldId="257"/>
            <ac:spMk id="38" creationId="{00000000-0000-0000-0000-000000000000}"/>
          </ac:spMkLst>
        </pc:spChg>
      </pc:sldChg>
      <pc:sldChg chg="modSp mod">
        <pc:chgData name="Cynthia Phakela" userId="c8f80bf6c917b871" providerId="LiveId" clId="{F54073B2-9C06-4A55-B0C3-A9FE66167EDA}" dt="2026-08-01T22:51:17.405" v="18" actId="27636"/>
        <pc:sldMkLst>
          <pc:docMk/>
          <pc:sldMk cId="0" sldId="258"/>
        </pc:sldMkLst>
        <pc:spChg chg="mod">
          <ac:chgData name="Cynthia Phakela" userId="c8f80bf6c917b871" providerId="LiveId" clId="{F54073B2-9C06-4A55-B0C3-A9FE66167EDA}" dt="2026-08-01T22:51:17.405" v="18" actId="27636"/>
          <ac:spMkLst>
            <pc:docMk/>
            <pc:sldMk cId="0" sldId="258"/>
            <ac:spMk id="25" creationId="{00000000-0000-0000-0000-000000000000}"/>
          </ac:spMkLst>
        </pc:spChg>
      </pc:sldChg>
      <pc:sldChg chg="modSp mod">
        <pc:chgData name="Cynthia Phakela" userId="c8f80bf6c917b871" providerId="LiveId" clId="{F54073B2-9C06-4A55-B0C3-A9FE66167EDA}" dt="2026-08-02T17:43:08.441" v="203" actId="1076"/>
        <pc:sldMkLst>
          <pc:docMk/>
          <pc:sldMk cId="0" sldId="259"/>
        </pc:sldMkLst>
        <pc:spChg chg="mod">
          <ac:chgData name="Cynthia Phakela" userId="c8f80bf6c917b871" providerId="LiveId" clId="{F54073B2-9C06-4A55-B0C3-A9FE66167EDA}" dt="2026-08-02T17:43:08.441" v="203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Cynthia Phakela" userId="c8f80bf6c917b871" providerId="LiveId" clId="{F54073B2-9C06-4A55-B0C3-A9FE66167EDA}" dt="2026-08-01T22:51:17.423" v="19" actId="27636"/>
          <ac:spMkLst>
            <pc:docMk/>
            <pc:sldMk cId="0" sldId="259"/>
            <ac:spMk id="29" creationId="{00000000-0000-0000-0000-000000000000}"/>
          </ac:spMkLst>
        </pc:spChg>
      </pc:sldChg>
      <pc:sldChg chg="modSp mod">
        <pc:chgData name="Cynthia Phakela" userId="c8f80bf6c917b871" providerId="LiveId" clId="{F54073B2-9C06-4A55-B0C3-A9FE66167EDA}" dt="2026-08-01T22:51:17.423" v="20" actId="27636"/>
        <pc:sldMkLst>
          <pc:docMk/>
          <pc:sldMk cId="0" sldId="260"/>
        </pc:sldMkLst>
        <pc:spChg chg="mod">
          <ac:chgData name="Cynthia Phakela" userId="c8f80bf6c917b871" providerId="LiveId" clId="{F54073B2-9C06-4A55-B0C3-A9FE66167EDA}" dt="2026-08-01T22:51:17.423" v="20" actId="27636"/>
          <ac:spMkLst>
            <pc:docMk/>
            <pc:sldMk cId="0" sldId="260"/>
            <ac:spMk id="25" creationId="{00000000-0000-0000-0000-000000000000}"/>
          </ac:spMkLst>
        </pc:spChg>
      </pc:sldChg>
      <pc:sldChg chg="modSp mod">
        <pc:chgData name="Cynthia Phakela" userId="c8f80bf6c917b871" providerId="LiveId" clId="{F54073B2-9C06-4A55-B0C3-A9FE66167EDA}" dt="2026-08-01T22:58:58.476" v="197" actId="27636"/>
        <pc:sldMkLst>
          <pc:docMk/>
          <pc:sldMk cId="0" sldId="261"/>
        </pc:sldMkLst>
        <pc:spChg chg="mod">
          <ac:chgData name="Cynthia Phakela" userId="c8f80bf6c917b871" providerId="LiveId" clId="{F54073B2-9C06-4A55-B0C3-A9FE66167EDA}" dt="2026-08-01T22:58:58.476" v="197" actId="27636"/>
          <ac:spMkLst>
            <pc:docMk/>
            <pc:sldMk cId="0" sldId="261"/>
            <ac:spMk id="24" creationId="{00000000-0000-0000-0000-000000000000}"/>
          </ac:spMkLst>
        </pc:spChg>
        <pc:spChg chg="mod">
          <ac:chgData name="Cynthia Phakela" userId="c8f80bf6c917b871" providerId="LiveId" clId="{F54073B2-9C06-4A55-B0C3-A9FE66167EDA}" dt="2026-08-01T22:51:17.423" v="22" actId="27636"/>
          <ac:spMkLst>
            <pc:docMk/>
            <pc:sldMk cId="0" sldId="261"/>
            <ac:spMk id="25" creationId="{00000000-0000-0000-0000-000000000000}"/>
          </ac:spMkLst>
        </pc:spChg>
      </pc:sldChg>
      <pc:sldChg chg="modSp mod">
        <pc:chgData name="Cynthia Phakela" userId="c8f80bf6c917b871" providerId="LiveId" clId="{F54073B2-9C06-4A55-B0C3-A9FE66167EDA}" dt="2026-08-02T17:43:48.665" v="205" actId="14100"/>
        <pc:sldMkLst>
          <pc:docMk/>
          <pc:sldMk cId="0" sldId="262"/>
        </pc:sldMkLst>
        <pc:spChg chg="mod">
          <ac:chgData name="Cynthia Phakela" userId="c8f80bf6c917b871" providerId="LiveId" clId="{F54073B2-9C06-4A55-B0C3-A9FE66167EDA}" dt="2026-08-02T17:43:48.665" v="205" actId="14100"/>
          <ac:spMkLst>
            <pc:docMk/>
            <pc:sldMk cId="0" sldId="262"/>
            <ac:spMk id="3" creationId="{00000000-0000-0000-0000-000000000000}"/>
          </ac:spMkLst>
        </pc:spChg>
        <pc:spChg chg="mod">
          <ac:chgData name="Cynthia Phakela" userId="c8f80bf6c917b871" providerId="LiveId" clId="{F54073B2-9C06-4A55-B0C3-A9FE66167EDA}" dt="2026-08-01T22:51:17.385" v="13" actId="27636"/>
          <ac:spMkLst>
            <pc:docMk/>
            <pc:sldMk cId="0" sldId="262"/>
            <ac:spMk id="25" creationId="{00000000-0000-0000-0000-000000000000}"/>
          </ac:spMkLst>
        </pc:spChg>
      </pc:sldChg>
      <pc:sldChg chg="modSp mod">
        <pc:chgData name="Cynthia Phakela" userId="c8f80bf6c917b871" providerId="LiveId" clId="{F54073B2-9C06-4A55-B0C3-A9FE66167EDA}" dt="2026-08-02T17:42:27.160" v="202" actId="255"/>
        <pc:sldMkLst>
          <pc:docMk/>
          <pc:sldMk cId="0" sldId="263"/>
        </pc:sldMkLst>
        <pc:spChg chg="mod">
          <ac:chgData name="Cynthia Phakela" userId="c8f80bf6c917b871" providerId="LiveId" clId="{F54073B2-9C06-4A55-B0C3-A9FE66167EDA}" dt="2026-08-02T17:41:51.523" v="201" actId="14100"/>
          <ac:spMkLst>
            <pc:docMk/>
            <pc:sldMk cId="0" sldId="263"/>
            <ac:spMk id="3" creationId="{00000000-0000-0000-0000-000000000000}"/>
          </ac:spMkLst>
        </pc:spChg>
        <pc:spChg chg="mod">
          <ac:chgData name="Cynthia Phakela" userId="c8f80bf6c917b871" providerId="LiveId" clId="{F54073B2-9C06-4A55-B0C3-A9FE66167EDA}" dt="2026-08-02T17:42:27.160" v="202" actId="255"/>
          <ac:spMkLst>
            <pc:docMk/>
            <pc:sldMk cId="0" sldId="263"/>
            <ac:spMk id="21" creationId="{00000000-0000-0000-0000-000000000000}"/>
          </ac:spMkLst>
        </pc:spChg>
        <pc:spChg chg="mod">
          <ac:chgData name="Cynthia Phakela" userId="c8f80bf6c917b871" providerId="LiveId" clId="{F54073B2-9C06-4A55-B0C3-A9FE66167EDA}" dt="2026-08-01T22:51:17.399" v="14" actId="27636"/>
          <ac:spMkLst>
            <pc:docMk/>
            <pc:sldMk cId="0" sldId="263"/>
            <ac:spMk id="25" creationId="{00000000-0000-0000-0000-000000000000}"/>
          </ac:spMkLst>
        </pc:spChg>
        <pc:graphicFrameChg chg="mod">
          <ac:chgData name="Cynthia Phakela" userId="c8f80bf6c917b871" providerId="LiveId" clId="{F54073B2-9C06-4A55-B0C3-A9FE66167EDA}" dt="2026-08-02T17:41:38.148" v="199" actId="14100"/>
          <ac:graphicFrameMkLst>
            <pc:docMk/>
            <pc:sldMk cId="0" sldId="263"/>
            <ac:graphicFrameMk id="4" creationId="{00000000-0000-0000-0000-000000000000}"/>
          </ac:graphicFrameMkLst>
        </pc:graphicFrameChg>
      </pc:sldChg>
      <pc:sldChg chg="modSp mod">
        <pc:chgData name="Cynthia Phakela" userId="c8f80bf6c917b871" providerId="LiveId" clId="{F54073B2-9C06-4A55-B0C3-A9FE66167EDA}" dt="2026-08-02T17:44:16.384" v="206" actId="14100"/>
        <pc:sldMkLst>
          <pc:docMk/>
          <pc:sldMk cId="0" sldId="264"/>
        </pc:sldMkLst>
        <pc:spChg chg="mod">
          <ac:chgData name="Cynthia Phakela" userId="c8f80bf6c917b871" providerId="LiveId" clId="{F54073B2-9C06-4A55-B0C3-A9FE66167EDA}" dt="2026-08-02T17:44:16.384" v="206" actId="14100"/>
          <ac:spMkLst>
            <pc:docMk/>
            <pc:sldMk cId="0" sldId="264"/>
            <ac:spMk id="3" creationId="{00000000-0000-0000-0000-000000000000}"/>
          </ac:spMkLst>
        </pc:spChg>
        <pc:spChg chg="mod">
          <ac:chgData name="Cynthia Phakela" userId="c8f80bf6c917b871" providerId="LiveId" clId="{F54073B2-9C06-4A55-B0C3-A9FE66167EDA}" dt="2026-08-01T22:51:17.405" v="15" actId="27636"/>
          <ac:spMkLst>
            <pc:docMk/>
            <pc:sldMk cId="0" sldId="264"/>
            <ac:spMk id="45" creationId="{00000000-0000-0000-0000-000000000000}"/>
          </ac:spMkLst>
        </pc:spChg>
      </pc:sldChg>
      <pc:sldChg chg="modSp mod">
        <pc:chgData name="Cynthia Phakela" userId="c8f80bf6c917b871" providerId="LiveId" clId="{F54073B2-9C06-4A55-B0C3-A9FE66167EDA}" dt="2026-08-01T22:51:17.405" v="16" actId="27636"/>
        <pc:sldMkLst>
          <pc:docMk/>
          <pc:sldMk cId="0" sldId="265"/>
        </pc:sldMkLst>
        <pc:spChg chg="mod">
          <ac:chgData name="Cynthia Phakela" userId="c8f80bf6c917b871" providerId="LiveId" clId="{F54073B2-9C06-4A55-B0C3-A9FE66167EDA}" dt="2026-08-01T22:51:17.405" v="16" actId="27636"/>
          <ac:spMkLst>
            <pc:docMk/>
            <pc:sldMk cId="0" sldId="265"/>
            <ac:spMk id="41" creationId="{00000000-0000-0000-0000-000000000000}"/>
          </ac:spMkLst>
        </pc:spChg>
      </pc:sldChg>
      <pc:sldMasterChg chg="modSldLayout">
        <pc:chgData name="Cynthia Phakela" userId="c8f80bf6c917b871" providerId="LiveId" clId="{F54073B2-9C06-4A55-B0C3-A9FE66167EDA}" dt="2026-08-01T22:49:24.469" v="0"/>
        <pc:sldMasterMkLst>
          <pc:docMk/>
          <pc:sldMasterMk cId="3283338563" sldId="2147483651"/>
        </pc:sldMasterMkLst>
        <pc:sldLayoutChg chg="delSp">
          <pc:chgData name="Cynthia Phakela" userId="c8f80bf6c917b871" providerId="LiveId" clId="{F54073B2-9C06-4A55-B0C3-A9FE66167EDA}" dt="2026-08-01T22:49:24.469" v="0"/>
          <pc:sldLayoutMkLst>
            <pc:docMk/>
            <pc:sldMasterMk cId="3283338563" sldId="2147483651"/>
            <pc:sldLayoutMk cId="350167292" sldId="2147483664"/>
          </pc:sldLayoutMkLst>
          <pc:spChg chg="del">
            <ac:chgData name="Cynthia Phakela" userId="c8f80bf6c917b871" providerId="LiveId" clId="{F54073B2-9C06-4A55-B0C3-A9FE66167EDA}" dt="2026-08-01T22:49:24.469" v="0"/>
            <ac:spMkLst>
              <pc:docMk/>
              <pc:sldMasterMk cId="3283338563" sldId="2147483651"/>
              <pc:sldLayoutMk cId="350167292" sldId="2147483664"/>
              <ac:spMk id="2" creationId="{00000000-0000-0000-0000-000000000000}"/>
            </ac:spMkLst>
          </pc:spChg>
          <pc:spChg chg="del">
            <ac:chgData name="Cynthia Phakela" userId="c8f80bf6c917b871" providerId="LiveId" clId="{F54073B2-9C06-4A55-B0C3-A9FE66167EDA}" dt="2026-08-01T22:49:24.469" v="0"/>
            <ac:spMkLst>
              <pc:docMk/>
              <pc:sldMasterMk cId="3283338563" sldId="2147483651"/>
              <pc:sldLayoutMk cId="350167292" sldId="2147483664"/>
              <ac:spMk id="3" creationId="{00000000-0000-0000-0000-000000000000}"/>
            </ac:spMkLst>
          </pc:spChg>
          <pc:spChg chg="del">
            <ac:chgData name="Cynthia Phakela" userId="c8f80bf6c917b871" providerId="LiveId" clId="{F54073B2-9C06-4A55-B0C3-A9FE66167EDA}" dt="2026-08-01T22:49:24.469" v="0"/>
            <ac:spMkLst>
              <pc:docMk/>
              <pc:sldMasterMk cId="3283338563" sldId="2147483651"/>
              <pc:sldLayoutMk cId="350167292" sldId="2147483664"/>
              <ac:spMk id="4" creationId="{00000000-0000-0000-0000-000000000000}"/>
            </ac:spMkLst>
          </pc:spChg>
          <pc:spChg chg="del">
            <ac:chgData name="Cynthia Phakela" userId="c8f80bf6c917b871" providerId="LiveId" clId="{F54073B2-9C06-4A55-B0C3-A9FE66167EDA}" dt="2026-08-01T22:49:24.469" v="0"/>
            <ac:spMkLst>
              <pc:docMk/>
              <pc:sldMasterMk cId="3283338563" sldId="2147483651"/>
              <pc:sldLayoutMk cId="350167292" sldId="2147483664"/>
              <ac:spMk id="5" creationId="{00000000-0000-0000-0000-000000000000}"/>
            </ac:spMkLst>
          </pc:spChg>
          <pc:spChg chg="del">
            <ac:chgData name="Cynthia Phakela" userId="c8f80bf6c917b871" providerId="LiveId" clId="{F54073B2-9C06-4A55-B0C3-A9FE66167EDA}" dt="2026-08-01T22:49:24.469" v="0"/>
            <ac:spMkLst>
              <pc:docMk/>
              <pc:sldMasterMk cId="3283338563" sldId="2147483651"/>
              <pc:sldLayoutMk cId="350167292" sldId="2147483664"/>
              <ac:spMk id="6" creationId="{00000000-0000-0000-0000-000000000000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\R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7324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Packaged Chocolate</c:v>
                </c:pt>
                <c:pt idx="1">
                  <c:v>Flavours</c:v>
                </c:pt>
                <c:pt idx="2">
                  <c:v>Loose Tea</c:v>
                </c:pt>
                <c:pt idx="3">
                  <c:v>Branded</c:v>
                </c:pt>
                <c:pt idx="4">
                  <c:v>Coffee beans</c:v>
                </c:pt>
                <c:pt idx="5">
                  <c:v>Drinking Chocolate</c:v>
                </c:pt>
                <c:pt idx="6">
                  <c:v>Bakery</c:v>
                </c:pt>
                <c:pt idx="7">
                  <c:v>Tea</c:v>
                </c:pt>
                <c:pt idx="8">
                  <c:v>Coffee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4408</c:v>
                </c:pt>
                <c:pt idx="1">
                  <c:v>8409</c:v>
                </c:pt>
                <c:pt idx="2">
                  <c:v>11214</c:v>
                </c:pt>
                <c:pt idx="3">
                  <c:v>13607</c:v>
                </c:pt>
                <c:pt idx="4">
                  <c:v>40085</c:v>
                </c:pt>
                <c:pt idx="5">
                  <c:v>72416</c:v>
                </c:pt>
                <c:pt idx="6">
                  <c:v>82316</c:v>
                </c:pt>
                <c:pt idx="7">
                  <c:v>196406</c:v>
                </c:pt>
                <c:pt idx="8">
                  <c:v>269952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FC-4004-AF3D-3953CB31E3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A789C"/>
            </a:solidFill>
            <a:effectLst/>
          </c:spPr>
          <c:invertIfNegative val="0"/>
          <c:dLbls>
            <c:numFmt formatCode="\R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Drip coffee</c:v>
                </c:pt>
                <c:pt idx="1">
                  <c:v>Scone</c:v>
                </c:pt>
                <c:pt idx="2">
                  <c:v>Organic brewed coffee</c:v>
                </c:pt>
                <c:pt idx="3">
                  <c:v>Premium brewed coffee</c:v>
                </c:pt>
                <c:pt idx="4">
                  <c:v>Brewed herbal tea</c:v>
                </c:pt>
                <c:pt idx="5">
                  <c:v>Brewed Black tea</c:v>
                </c:pt>
                <c:pt idx="6">
                  <c:v>Gourmet brewed coffee</c:v>
                </c:pt>
                <c:pt idx="7">
                  <c:v>Hot chocolate</c:v>
                </c:pt>
                <c:pt idx="8">
                  <c:v>Brewed Chai tea</c:v>
                </c:pt>
                <c:pt idx="9">
                  <c:v>Barista Espresso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31984</c:v>
                </c:pt>
                <c:pt idx="1">
                  <c:v>36866</c:v>
                </c:pt>
                <c:pt idx="2">
                  <c:v>37747</c:v>
                </c:pt>
                <c:pt idx="3">
                  <c:v>38781</c:v>
                </c:pt>
                <c:pt idx="4">
                  <c:v>47540</c:v>
                </c:pt>
                <c:pt idx="5">
                  <c:v>47932</c:v>
                </c:pt>
                <c:pt idx="6">
                  <c:v>70035</c:v>
                </c:pt>
                <c:pt idx="7">
                  <c:v>72416</c:v>
                </c:pt>
                <c:pt idx="8">
                  <c:v>77082</c:v>
                </c:pt>
                <c:pt idx="9">
                  <c:v>91406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4C-4395-B579-20470EE335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\R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06-09</c:v>
                </c:pt>
                <c:pt idx="1">
                  <c:v>09-12</c:v>
                </c:pt>
                <c:pt idx="2">
                  <c:v>12-15</c:v>
                </c:pt>
                <c:pt idx="3">
                  <c:v>15-18</c:v>
                </c:pt>
                <c:pt idx="4">
                  <c:v>18-21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168127</c:v>
                </c:pt>
                <c:pt idx="1">
                  <c:v>220162</c:v>
                </c:pt>
                <c:pt idx="2">
                  <c:v>121865</c:v>
                </c:pt>
                <c:pt idx="3">
                  <c:v>122990</c:v>
                </c:pt>
                <c:pt idx="4">
                  <c:v>65669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A7-4501-9C4A-214E180092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8100" cap="flat">
              <a:solidFill>
                <a:srgbClr val="4A789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A789C"/>
              </a:solidFill>
              <a:ln w="9525" cap="flat">
                <a:solidFill>
                  <a:srgbClr val="4A789C"/>
                </a:solidFill>
                <a:prstDash val="solid"/>
                <a:round/>
              </a:ln>
              <a:effectLst/>
            </c:spPr>
          </c:marker>
          <c:dLbls>
            <c:numFmt formatCode="\R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81678</c:v>
                </c:pt>
                <c:pt idx="1">
                  <c:v>76145</c:v>
                </c:pt>
                <c:pt idx="2">
                  <c:v>98835</c:v>
                </c:pt>
                <c:pt idx="3">
                  <c:v>118941</c:v>
                </c:pt>
                <c:pt idx="4">
                  <c:v>156728</c:v>
                </c:pt>
                <c:pt idx="5">
                  <c:v>166486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7D-428F-9F9D-EF47F31B5B1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daily revenue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\R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3911</c:v>
                </c:pt>
                <c:pt idx="1">
                  <c:v>3825</c:v>
                </c:pt>
                <c:pt idx="2">
                  <c:v>3858</c:v>
                </c:pt>
                <c:pt idx="3">
                  <c:v>3876</c:v>
                </c:pt>
                <c:pt idx="4">
                  <c:v>3899</c:v>
                </c:pt>
                <c:pt idx="5">
                  <c:v>3876</c:v>
                </c:pt>
                <c:pt idx="6">
                  <c:v>3782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B0-421B-96EC-2236422783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C8A71"/>
            </a:solidFill>
            <a:effectLst/>
          </c:spPr>
          <c:invertIfNegative val="0"/>
          <c:dLbls>
            <c:numFmt formatCode="\R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Hell's Kitchen</c:v>
                </c:pt>
                <c:pt idx="1">
                  <c:v>Astoria</c:v>
                </c:pt>
                <c:pt idx="2">
                  <c:v>Lower Manhattan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236511</c:v>
                </c:pt>
                <c:pt idx="1">
                  <c:v>232244</c:v>
                </c:pt>
                <c:pt idx="2">
                  <c:v>230057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42-47AB-9E23-1CA4CFDCC1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5984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87593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06813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483381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00405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74383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4031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39905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85713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9306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7991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0750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654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74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13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727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  <p:sldLayoutId id="2147483853" r:id="rId12"/>
    <p:sldLayoutId id="2147483854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pixabay.com/en/coffee-cafe-cup-drink-breakfast-821490/" TargetMode="Externa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8046720" y="-1097280"/>
            <a:ext cx="5212080" cy="5212080"/>
          </a:xfrm>
          <a:prstGeom prst="arc">
            <a:avLst/>
          </a:prstGeom>
          <a:solidFill>
            <a:srgbClr val="F28C28">
              <a:alpha val="85000"/>
            </a:srgbClr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49640" y="3520440"/>
            <a:ext cx="2103120" cy="2103120"/>
          </a:xfrm>
          <a:prstGeom prst="ellipse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06840" y="3913632"/>
            <a:ext cx="1188720" cy="1188720"/>
          </a:xfrm>
          <a:prstGeom prst="arc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594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8C28"/>
                </a:solidFill>
              </a:rPr>
              <a:t>BRIGHT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353312"/>
            <a:ext cx="649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Coffee Shop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Sales Analysis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13232" y="306324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E0E7"/>
                </a:solidFill>
              </a:rPr>
              <a:t>Turning six months of transactions into practical growth actions for the CEO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4069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8C28"/>
                </a:solidFill>
              </a:rPr>
              <a:t>January - June 2023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" y="4572000"/>
            <a:ext cx="5029200" cy="0"/>
          </a:xfrm>
          <a:prstGeom prst="line">
            <a:avLst/>
          </a:prstGeom>
          <a:noFill/>
          <a:ln w="15240">
            <a:solidFill>
              <a:srgbClr val="5870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48006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2DC"/>
                </a:solidFill>
              </a:rPr>
              <a:t>Prepared for: Chief Executive Officer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51480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2DC"/>
                </a:solidFill>
              </a:rPr>
              <a:t>Prepared by: Junior Data Analyst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4DE03B-245E-F8A6-43E5-D6EBCD4BF64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665463" y="3937245"/>
            <a:ext cx="1987297" cy="1324865"/>
          </a:xfrm>
          <a:prstGeom prst="rect">
            <a:avLst/>
          </a:prstGeom>
          <a:effectLst>
            <a:outerShdw blurRad="25400" dist="50800" dir="5400000" sx="87000" sy="87000" algn="ctr" rotWithShape="0">
              <a:srgbClr val="000000">
                <a:alpha val="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6692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</a:rPr>
              <a:t>Executive performance snapshot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7782"/>
                </a:solidFill>
              </a:rPr>
              <a:t>The dataset contains 149,116 transactions across three stores over 181 trading days.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ED6CC"/>
            </a:solidFill>
            <a:prstDash val="solid"/>
          </a:ln>
          <a:effectLst>
            <a:outerShdw blurRad="12700" dist="50800" dir="2700000" algn="bl" rotWithShape="0">
              <a:srgbClr val="C8BFB4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73152" cy="107899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8096" y="15819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</a:rPr>
              <a:t>R698 812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68096" y="19842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313A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" y="220370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F7782"/>
                </a:solidFill>
              </a:rPr>
              <a:t>Six-month sales value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401568" y="141732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ED6CC"/>
            </a:solidFill>
            <a:prstDash val="solid"/>
          </a:ln>
          <a:effectLst>
            <a:outerShdw blurRad="12700" dist="50800" dir="2700000" algn="bl" rotWithShape="0">
              <a:srgbClr val="C8BFB4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01568" y="1417320"/>
            <a:ext cx="73152" cy="1078992"/>
          </a:xfrm>
          <a:prstGeom prst="rect">
            <a:avLst/>
          </a:prstGeom>
          <a:solidFill>
            <a:srgbClr val="4C8A71"/>
          </a:solidFill>
          <a:ln w="12700">
            <a:solidFill>
              <a:srgbClr val="4C8A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02736" y="15819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</a:rPr>
              <a:t>214 470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602736" y="19842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313A"/>
                </a:solidFill>
              </a:rPr>
              <a:t>UNITS SOLD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02736" y="220370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F7782"/>
                </a:solidFill>
              </a:rPr>
              <a:t>Average 1.44 units per transaction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236208" y="141732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ED6CC"/>
            </a:solidFill>
            <a:prstDash val="solid"/>
          </a:ln>
          <a:effectLst>
            <a:outerShdw blurRad="12700" dist="50800" dir="2700000" algn="bl" rotWithShape="0">
              <a:srgbClr val="C8BFB4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36208" y="1417320"/>
            <a:ext cx="73152" cy="1078992"/>
          </a:xfrm>
          <a:prstGeom prst="rect">
            <a:avLst/>
          </a:prstGeom>
          <a:solidFill>
            <a:srgbClr val="4A789C"/>
          </a:solidFill>
          <a:ln w="12700">
            <a:solidFill>
              <a:srgbClr val="4A78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37376" y="15819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</a:rPr>
              <a:t>149 116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437376" y="19842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313A"/>
                </a:solidFill>
              </a:rPr>
              <a:t>TRANSACTIONS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37376" y="220370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F7782"/>
                </a:solidFill>
              </a:rPr>
              <a:t>Average 824 per day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9070848" y="141732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ED6CC"/>
            </a:solidFill>
            <a:prstDash val="solid"/>
          </a:ln>
          <a:effectLst>
            <a:outerShdw blurRad="12700" dist="50800" dir="2700000" algn="bl" rotWithShape="0">
              <a:srgbClr val="C8BFB4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70848" y="1417320"/>
            <a:ext cx="73152" cy="1078992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72016" y="15819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24D"/>
                </a:solidFill>
              </a:rPr>
              <a:t>R4.69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9272016" y="198424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313A"/>
                </a:solidFill>
              </a:rPr>
              <a:t>AVG TRANSACTION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272016" y="220370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F7782"/>
                </a:solidFill>
              </a:rPr>
              <a:t>Revenue per transaction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66928" y="2880360"/>
            <a:ext cx="3520440" cy="2331720"/>
          </a:xfrm>
          <a:prstGeom prst="roundRect">
            <a:avLst>
              <a:gd name="adj" fmla="val 2353"/>
            </a:avLst>
          </a:prstGeom>
          <a:solidFill>
            <a:srgbClr val="FFFDFC"/>
          </a:solidFill>
          <a:ln w="1270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1520" y="3063240"/>
            <a:ext cx="237744" cy="23774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69848" y="300837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Product engine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" y="3401568"/>
            <a:ext cx="3154680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7313A"/>
                </a:solidFill>
              </a:rPr>
              <a:t>Coffee and Tea generated 66.7% of revenue. Coffee alone contributed 38.6%.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34256" y="2880360"/>
            <a:ext cx="3520440" cy="2331720"/>
          </a:xfrm>
          <a:prstGeom prst="roundRect">
            <a:avLst>
              <a:gd name="adj" fmla="val 2353"/>
            </a:avLst>
          </a:prstGeom>
          <a:solidFill>
            <a:srgbClr val="FFFDFC"/>
          </a:solidFill>
          <a:ln w="1270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498848" y="3063240"/>
            <a:ext cx="237744" cy="237744"/>
          </a:xfrm>
          <a:prstGeom prst="ellipse">
            <a:avLst/>
          </a:prstGeom>
          <a:solidFill>
            <a:srgbClr val="4C8A71"/>
          </a:solidFill>
          <a:ln w="12700">
            <a:solidFill>
              <a:srgbClr val="4C8A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37176" y="300837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Peak selling window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17136" y="3401568"/>
            <a:ext cx="3154680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7313A"/>
                </a:solidFill>
              </a:rPr>
              <a:t>The 09:00-12:00 late-morning period produced R220 162 (31.5%) - the strongest time block.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01584" y="2880360"/>
            <a:ext cx="3520440" cy="2331720"/>
          </a:xfrm>
          <a:prstGeom prst="roundRect">
            <a:avLst>
              <a:gd name="adj" fmla="val 2353"/>
            </a:avLst>
          </a:prstGeom>
          <a:solidFill>
            <a:srgbClr val="FFFDFC"/>
          </a:solidFill>
          <a:ln w="1270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266176" y="3063240"/>
            <a:ext cx="237744" cy="237744"/>
          </a:xfrm>
          <a:prstGeom prst="ellipse">
            <a:avLst/>
          </a:prstGeom>
          <a:solidFill>
            <a:srgbClr val="4A789C"/>
          </a:solidFill>
          <a:ln w="12700">
            <a:solidFill>
              <a:srgbClr val="4A78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604504" y="300837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Growth momentum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84464" y="3401568"/>
            <a:ext cx="3154680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7313A"/>
                </a:solidFill>
              </a:rPr>
              <a:t>Monthly revenue rose from R81 678 in January to R166 486 in June, a 103.8% increase.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6928" y="5532120"/>
            <a:ext cx="11018520" cy="502920"/>
          </a:xfrm>
          <a:prstGeom prst="roundRect">
            <a:avLst>
              <a:gd name="adj" fmla="val 7273"/>
            </a:avLst>
          </a:prstGeom>
          <a:solidFill>
            <a:srgbClr val="FFF2E4"/>
          </a:solidFill>
          <a:ln w="12700">
            <a:solidFill>
              <a:srgbClr val="F1C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04672" y="5669280"/>
            <a:ext cx="1056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</a:rPr>
              <a:t>CEO takeaway: protect morning availability, grow high-value bundles, and use targeted offers to lift afternoon and evening demand.</a:t>
            </a:r>
            <a:endParaRPr lang="en-US" sz="11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 fontScale="92500" lnSpcReduction="20000"/>
          </a:bodyPr>
          <a:lstStyle>
            <a:lvl1pPr>
              <a:defRPr sz="800">
                <a:solidFill>
                  <a:srgbClr val="7B74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6692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</a:rPr>
              <a:t>Coffee and tea are the core revenue engines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7782"/>
                </a:solidFill>
              </a:rPr>
              <a:t>Product-category sales show a highly concentrated revenue mix.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94360" y="1417320"/>
          <a:ext cx="68122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417320"/>
            <a:ext cx="3794760" cy="1234440"/>
          </a:xfrm>
          <a:prstGeom prst="roundRect">
            <a:avLst>
              <a:gd name="adj" fmla="val 4444"/>
            </a:avLst>
          </a:prstGeom>
          <a:solidFill>
            <a:srgbClr val="FFFDFC"/>
          </a:solidFill>
          <a:ln w="1270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891272" y="1600200"/>
            <a:ext cx="237744" cy="23774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0" y="154533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66.7% from two categories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09560" y="1938528"/>
            <a:ext cx="3429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7313A"/>
                </a:solidFill>
              </a:rPr>
              <a:t>Coffee (R269 952) and Tea (R196 406) dominate the revenue mix.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26680" y="2816352"/>
            <a:ext cx="3794760" cy="1234440"/>
          </a:xfrm>
          <a:prstGeom prst="roundRect">
            <a:avLst>
              <a:gd name="adj" fmla="val 4444"/>
            </a:avLst>
          </a:prstGeom>
          <a:solidFill>
            <a:srgbClr val="FFFDFC"/>
          </a:solidFill>
          <a:ln w="1270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891272" y="2999232"/>
            <a:ext cx="237744" cy="23774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0" y="29443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Bakery is the attach-sale lever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09560" y="3337560"/>
            <a:ext cx="34290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7313A"/>
                </a:solidFill>
              </a:rPr>
              <a:t>Bakery generated R82 316 and 23,214 units, creating a natural beverage-bundle opportunity.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726680" y="4215384"/>
            <a:ext cx="3794760" cy="1463040"/>
          </a:xfrm>
          <a:prstGeom prst="roundRect">
            <a:avLst>
              <a:gd name="adj" fmla="val 3750"/>
            </a:avLst>
          </a:prstGeom>
          <a:solidFill>
            <a:srgbClr val="FFFDFC"/>
          </a:solidFill>
          <a:ln w="1270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891272" y="4398264"/>
            <a:ext cx="237744" cy="237744"/>
          </a:xfrm>
          <a:prstGeom prst="ellipse">
            <a:avLst/>
          </a:prstGeom>
          <a:solidFill>
            <a:srgbClr val="4C8A71"/>
          </a:solidFill>
          <a:ln w="12700">
            <a:solidFill>
              <a:srgbClr val="4C8A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29600" y="43434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High-value, low-volume lines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09560" y="4736592"/>
            <a:ext cx="34290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7313A"/>
                </a:solidFill>
              </a:rPr>
              <a:t>Coffee beans average R22.87 per transaction, well above the overall R4.69. Promote them as take-home add-ons.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 fontScale="92500" lnSpcReduction="20000"/>
          </a:bodyPr>
          <a:lstStyle>
            <a:lvl1pPr>
              <a:defRPr sz="800">
                <a:solidFill>
                  <a:srgbClr val="7B74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6692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</a:rPr>
              <a:t>Top product types reveal where to protect stock and menu visibility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8113" y="10972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7782"/>
                </a:solidFill>
              </a:rPr>
              <a:t>The four leading product types contribute 44.5% of total revenue.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66928" y="1353312"/>
          <a:ext cx="658368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45236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Top individual items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452360" y="1847088"/>
            <a:ext cx="3977640" cy="530352"/>
          </a:xfrm>
          <a:prstGeom prst="roundRect">
            <a:avLst>
              <a:gd name="adj" fmla="val 6897"/>
            </a:avLst>
          </a:prstGeom>
          <a:solidFill>
            <a:srgbClr val="FFF2E4"/>
          </a:solidFill>
          <a:ln w="1270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71232" y="19933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8C28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955280" y="19385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7313A"/>
                </a:solidFill>
              </a:rPr>
              <a:t>Sustainably Grown Organic Lg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332720" y="19568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24D"/>
                </a:solidFill>
              </a:rPr>
              <a:t>R21 152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452360" y="2505456"/>
            <a:ext cx="39776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571232" y="26517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F7782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955280" y="259689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7313A"/>
                </a:solidFill>
              </a:rPr>
              <a:t>Dark chocolate Lg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332720" y="2615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24D"/>
                </a:solidFill>
              </a:rPr>
              <a:t>R21 006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452360" y="3163824"/>
            <a:ext cx="39776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571232" y="33101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F7782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955280" y="32552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7313A"/>
                </a:solidFill>
              </a:rPr>
              <a:t>Latte Rg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332720" y="3273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24D"/>
                </a:solidFill>
              </a:rPr>
              <a:t>R19 112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452360" y="3822192"/>
            <a:ext cx="39776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571232" y="39684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F7782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955280" y="39136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7313A"/>
                </a:solidFill>
              </a:rPr>
              <a:t>Cappuccino Lg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332720" y="39319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24D"/>
                </a:solidFill>
              </a:rPr>
              <a:t>R17 642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452360" y="4480560"/>
            <a:ext cx="39776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571232" y="462686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F7782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955280" y="45720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7313A"/>
                </a:solidFill>
              </a:rPr>
              <a:t>Morning Sunrise Chai Lg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332720" y="4590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24D"/>
                </a:solidFill>
              </a:rPr>
              <a:t>R17 384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452360" y="5330952"/>
            <a:ext cx="3977640" cy="704088"/>
          </a:xfrm>
          <a:prstGeom prst="roundRect">
            <a:avLst>
              <a:gd name="adj" fmla="val 5195"/>
            </a:avLst>
          </a:prstGeom>
          <a:solidFill>
            <a:srgbClr val="EAF3EF"/>
          </a:solidFill>
          <a:ln w="12700">
            <a:solidFill>
              <a:srgbClr val="BA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635240" y="54681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8A71"/>
                </a:solidFill>
              </a:rPr>
              <a:t>Action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229600" y="5404104"/>
            <a:ext cx="29718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7313A"/>
                </a:solidFill>
              </a:rPr>
              <a:t>Set minimum stock thresholds for Barista Espresso, Chai and Hot Chocolate; feature top items prominently on menus.</a:t>
            </a:r>
            <a:endParaRPr lang="en-US" sz="8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 fontScale="92500" lnSpcReduction="20000"/>
          </a:bodyPr>
          <a:lstStyle>
            <a:lvl1pPr>
              <a:defRPr sz="800">
                <a:solidFill>
                  <a:srgbClr val="7B74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6692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</a:rPr>
              <a:t>Late morning is the strongest trading period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7782"/>
                </a:solidFill>
              </a:rPr>
              <a:t>More than half of revenue is earned before noon, making morning execution critical.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417320"/>
          <a:ext cx="73152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444752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4C8A71"/>
          </a:solidFill>
          <a:ln w="12700">
            <a:solidFill>
              <a:srgbClr val="4C8A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348472" y="1495044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PEAK WINDOW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75320" y="1901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</a:rPr>
              <a:t>09:00-12:00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75320" y="23957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8C28"/>
                </a:solidFill>
              </a:rPr>
              <a:t>R220 162 revenue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75320" y="27249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782"/>
                </a:solidFill>
              </a:rPr>
              <a:t>31.5% of all sales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229600" y="324612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DFC"/>
          </a:solidFill>
          <a:ln w="1270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394192" y="3429000"/>
            <a:ext cx="237744" cy="23774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732520" y="33741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Morning concentration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412480" y="3767328"/>
            <a:ext cx="28803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7313A"/>
                </a:solidFill>
              </a:rPr>
              <a:t>55.6% of revenue occurs between 06:00 and 12:00.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229600" y="4553712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FFFDFC"/>
          </a:solidFill>
          <a:ln w="1270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394192" y="4736592"/>
            <a:ext cx="237744" cy="237744"/>
          </a:xfrm>
          <a:prstGeom prst="ellipse">
            <a:avLst/>
          </a:prstGeom>
          <a:solidFill>
            <a:srgbClr val="4A789C"/>
          </a:solidFill>
          <a:ln w="12700">
            <a:solidFill>
              <a:srgbClr val="4A78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732520" y="46817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Evening opportunity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412480" y="5074920"/>
            <a:ext cx="288036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7313A"/>
                </a:solidFill>
              </a:rPr>
              <a:t>18:00-21:00 contributes only 9.4%. Use small, measurable offers rather than broad discounting.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 fontScale="92500" lnSpcReduction="20000"/>
          </a:bodyPr>
          <a:lstStyle>
            <a:lvl1pPr>
              <a:defRPr sz="800">
                <a:solidFill>
                  <a:srgbClr val="7B74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6692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</a:rPr>
              <a:t>Revenue accelerated strongly after February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7782"/>
                </a:solidFill>
              </a:rPr>
              <a:t>June revenue was more than double January revenue, with the strongest monthly jump in May.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94360" y="1353312"/>
          <a:ext cx="74980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8412480" y="13898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Month-on-month growth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458200" y="1947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313A"/>
                </a:solidFill>
              </a:rPr>
              <a:t>Feb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9144000" y="1874520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F8E8E4"/>
          </a:solidFill>
          <a:ln w="12700">
            <a:solidFill>
              <a:srgbClr val="E3BB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235440" y="19659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5D4C"/>
                </a:solidFill>
              </a:rPr>
              <a:t>-6.8%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458200" y="25603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313A"/>
                </a:solidFill>
              </a:rPr>
              <a:t>Mar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144000" y="2487168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EAF3EF"/>
          </a:solidFill>
          <a:ln w="12700">
            <a:solidFill>
              <a:srgbClr val="BA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235440" y="25786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C8A71"/>
                </a:solidFill>
              </a:rPr>
              <a:t>+29.8%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458200" y="31729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313A"/>
                </a:solidFill>
              </a:rPr>
              <a:t>Apr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144000" y="3099816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EAF3EF"/>
          </a:solidFill>
          <a:ln w="12700">
            <a:solidFill>
              <a:srgbClr val="BA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235440" y="319125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C8A71"/>
                </a:solidFill>
              </a:rPr>
              <a:t>+20.3%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458200" y="37856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313A"/>
                </a:solidFill>
              </a:rPr>
              <a:t>May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144000" y="3712464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EAF3EF"/>
          </a:solidFill>
          <a:ln w="12700">
            <a:solidFill>
              <a:srgbClr val="BA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235440" y="380390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C8A71"/>
                </a:solidFill>
              </a:rPr>
              <a:t>+31.8%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58200" y="439826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313A"/>
                </a:solidFill>
              </a:rPr>
              <a:t>Jun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144000" y="4325112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EAF3EF"/>
          </a:solidFill>
          <a:ln w="12700">
            <a:solidFill>
              <a:srgbClr val="BAD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235440" y="441655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C8A71"/>
                </a:solidFill>
              </a:rPr>
              <a:t>+6.2%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366760" y="507492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FFFDFC"/>
          </a:solidFill>
          <a:ln w="1270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531352" y="5257800"/>
            <a:ext cx="237744" cy="23774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869680" y="52029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Management question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549640" y="5596128"/>
            <a:ext cx="26974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7313A"/>
                </a:solidFill>
              </a:rPr>
              <a:t>Identify which campaigns, menu changes or traffic drivers began in March-May and repeat the most effective ones.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 fontScale="92500" lnSpcReduction="20000"/>
          </a:bodyPr>
          <a:lstStyle>
            <a:lvl1pPr>
              <a:defRPr sz="800">
                <a:solidFill>
                  <a:srgbClr val="7B74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6692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</a:rPr>
              <a:t>Daily performance is stable, with Monday slightly leading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7899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7782"/>
                </a:solidFill>
              </a:rPr>
              <a:t>Average daily revenue is used to avoid distortion from unequal numbers of weekdays in the period.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21792" y="1417320"/>
          <a:ext cx="73152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508760"/>
            <a:ext cx="3246120" cy="1280160"/>
          </a:xfrm>
          <a:prstGeom prst="roundRect">
            <a:avLst>
              <a:gd name="adj" fmla="val 4286"/>
            </a:avLst>
          </a:prstGeom>
          <a:solidFill>
            <a:srgbClr val="FFFDFC"/>
          </a:solidFill>
          <a:ln w="1270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394192" y="1691640"/>
            <a:ext cx="237744" cy="237744"/>
          </a:xfrm>
          <a:prstGeom prst="ellipse">
            <a:avLst/>
          </a:prstGeom>
          <a:solidFill>
            <a:srgbClr val="4C8A71"/>
          </a:solidFill>
          <a:ln w="12700">
            <a:solidFill>
              <a:srgbClr val="4C8A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732520" y="16367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Best average day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0" y="2029968"/>
            <a:ext cx="28803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7313A"/>
                </a:solidFill>
              </a:rPr>
              <a:t>Monday averages R3 911 per day.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229600" y="2971800"/>
            <a:ext cx="3246120" cy="1280160"/>
          </a:xfrm>
          <a:prstGeom prst="roundRect">
            <a:avLst>
              <a:gd name="adj" fmla="val 4286"/>
            </a:avLst>
          </a:prstGeom>
          <a:solidFill>
            <a:srgbClr val="FFFDFC"/>
          </a:solidFill>
          <a:ln w="1270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394192" y="3154680"/>
            <a:ext cx="237744" cy="23774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732520" y="30998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Lowest average day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412480" y="3493008"/>
            <a:ext cx="28803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7313A"/>
                </a:solidFill>
              </a:rPr>
              <a:t>Sunday averages R3 782 per day - only 3.3% below the leader.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229600" y="4434840"/>
            <a:ext cx="3246120" cy="1280160"/>
          </a:xfrm>
          <a:prstGeom prst="roundRect">
            <a:avLst>
              <a:gd name="adj" fmla="val 4286"/>
            </a:avLst>
          </a:prstGeom>
          <a:solidFill>
            <a:srgbClr val="FFFDFC"/>
          </a:solidFill>
          <a:ln w="1270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394192" y="4617720"/>
            <a:ext cx="237744" cy="237744"/>
          </a:xfrm>
          <a:prstGeom prst="ellipse">
            <a:avLst/>
          </a:prstGeom>
          <a:solidFill>
            <a:srgbClr val="4A789C"/>
          </a:solidFill>
          <a:ln w="12700">
            <a:solidFill>
              <a:srgbClr val="4A78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732520" y="45628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Implication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12480" y="4956048"/>
            <a:ext cx="28803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7313A"/>
                </a:solidFill>
              </a:rPr>
              <a:t>The bigger opportunity is time-slot and product optimisation, not heavy day-specific discounting.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 fontScale="92500" lnSpcReduction="20000"/>
          </a:bodyPr>
          <a:lstStyle>
            <a:lvl1pPr>
              <a:defRPr sz="800">
                <a:solidFill>
                  <a:srgbClr val="7B74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6692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</a:rPr>
              <a:t>Store revenue is balanced, but Lower Manhattan earns more per transaction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38539" y="1170432"/>
            <a:ext cx="1099146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7782"/>
                </a:solidFill>
              </a:rPr>
              <a:t>All locations are within 3% of one another in total revenue, indicating a broadly consistent network.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62060876"/>
              </p:ext>
            </p:extLst>
          </p:nvPr>
        </p:nvGraphicFramePr>
        <p:xfrm>
          <a:off x="373224" y="1737360"/>
          <a:ext cx="7015128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72668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Location diagnostics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699248" y="1938528"/>
            <a:ext cx="365760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891272" y="204825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313A"/>
                </a:solidFill>
              </a:rPr>
              <a:t>Hell's Kitchen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891272" y="234086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F7782"/>
                </a:solidFill>
              </a:rPr>
              <a:t>Avg transaction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46920" y="22585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7324D"/>
                </a:solidFill>
              </a:rPr>
              <a:t>R4.66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99248" y="2898648"/>
            <a:ext cx="365760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891272" y="300837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313A"/>
                </a:solidFill>
              </a:rPr>
              <a:t>Astoria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891272" y="330098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F7782"/>
                </a:solidFill>
              </a:rPr>
              <a:t>Avg transaction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9646920" y="32186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7324D"/>
                </a:solidFill>
              </a:rPr>
              <a:t>R4.59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699248" y="3858768"/>
            <a:ext cx="365760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891272" y="396849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313A"/>
                </a:solidFill>
              </a:rPr>
              <a:t>Lower Manhattan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891272" y="426110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F7782"/>
                </a:solidFill>
              </a:rPr>
              <a:t>Avg transaction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9646920" y="41788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28C28"/>
                </a:solidFill>
              </a:rPr>
              <a:t>R4.81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99248" y="498348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DFC"/>
          </a:solidFill>
          <a:ln w="1270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863840" y="5166360"/>
            <a:ext cx="237744" cy="23774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202168" y="51114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Share the playbook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882128" y="5504688"/>
            <a:ext cx="3291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7313A"/>
                </a:solidFill>
              </a:rPr>
              <a:t>Investigate Lower Manhattan’s higher average transaction and test its successful product mix or upselling practices elsewhere.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 fontScale="92500" lnSpcReduction="20000"/>
          </a:bodyPr>
          <a:lstStyle>
            <a:lvl1pPr>
              <a:defRPr sz="800">
                <a:solidFill>
                  <a:srgbClr val="7B74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6692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</a:rPr>
              <a:t>Recommended actions to improve sales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87552"/>
            <a:ext cx="10835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7782"/>
                </a:solidFill>
              </a:rPr>
              <a:t>Prioritised by likely revenue impact and ease of implementation.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10972800" cy="4114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#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97280" y="150876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1508760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WHY / HOW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0" y="15087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IMPACT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195560" y="15087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TIMING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" y="1801368"/>
            <a:ext cx="1097280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20574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C28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1947672"/>
            <a:ext cx="242316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7324D"/>
                </a:solidFill>
              </a:rPr>
              <a:t>Protect peak availability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30752" y="1911096"/>
            <a:ext cx="480060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7313A"/>
                </a:solidFill>
              </a:rPr>
              <a:t>Set demand-based par levels and replenish Coffee, Chai, Hot Chocolate and Bakery before 09:00.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887968" y="203911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961120" y="2089404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195560" y="20665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313A"/>
                </a:solidFill>
              </a:rPr>
              <a:t>Immediate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" y="2651760"/>
            <a:ext cx="10972800" cy="850392"/>
          </a:xfrm>
          <a:prstGeom prst="rect">
            <a:avLst/>
          </a:prstGeom>
          <a:solidFill>
            <a:srgbClr val="F3EEE7"/>
          </a:solidFill>
          <a:ln w="635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" y="29077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C28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2798064"/>
            <a:ext cx="242316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7324D"/>
                </a:solidFill>
              </a:rPr>
              <a:t>Build beverage + bakery bundles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30752" y="2761488"/>
            <a:ext cx="480060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7313A"/>
                </a:solidFill>
              </a:rPr>
              <a:t>Offer a modest bundle incentive during 06:00-12:00 and measure attach rate, margin and average transaction.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887968" y="2889504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961120" y="2939796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195560" y="291693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313A"/>
                </a:solidFill>
              </a:rPr>
              <a:t>2-4 weeks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3502152"/>
            <a:ext cx="1097280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3232" y="37581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C28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3648456"/>
            <a:ext cx="242316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7324D"/>
                </a:solidFill>
              </a:rPr>
              <a:t>Lift afternoon/evening traffic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30752" y="3611880"/>
            <a:ext cx="480060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7313A"/>
                </a:solidFill>
              </a:rPr>
              <a:t>Run targeted 15:00-18:00 snack bundles and a limited 18:00-21:00 loyalty multiplier.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887968" y="373989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4A789C"/>
          </a:solidFill>
          <a:ln w="12700">
            <a:solidFill>
              <a:srgbClr val="4A78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961120" y="379018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195560" y="376732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313A"/>
                </a:solidFill>
              </a:rPr>
              <a:t>Pilot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" y="4352544"/>
            <a:ext cx="10972800" cy="850392"/>
          </a:xfrm>
          <a:prstGeom prst="rect">
            <a:avLst/>
          </a:prstGeom>
          <a:solidFill>
            <a:srgbClr val="F3EEE7"/>
          </a:solidFill>
          <a:ln w="635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3232" y="460857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C28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" y="4498848"/>
            <a:ext cx="242316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7324D"/>
                </a:solidFill>
              </a:rPr>
              <a:t>Grow premium take-home sales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30752" y="4462272"/>
            <a:ext cx="480060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7313A"/>
                </a:solidFill>
              </a:rPr>
              <a:t>Place Coffee Beans, Loose Tea and Branded items near checkout and include staff upsell prompts.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887968" y="4590288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4A789C"/>
          </a:solidFill>
          <a:ln w="12700">
            <a:solidFill>
              <a:srgbClr val="4A78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961120" y="464058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195560" y="461772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313A"/>
                </a:solidFill>
              </a:rPr>
              <a:t>2-4 weeks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4360" y="5202936"/>
            <a:ext cx="1097280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13232" y="54589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C28"/>
                </a:solidFill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97280" y="5349240"/>
            <a:ext cx="242316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7324D"/>
                </a:solidFill>
              </a:rPr>
              <a:t>Replicate store best practice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730752" y="5312664"/>
            <a:ext cx="480060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7313A"/>
                </a:solidFill>
              </a:rPr>
              <a:t>Use Lower Manhattan’s higher transaction value as a benchmark; compare mix, staffing and upsell execution.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887968" y="544068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4A789C"/>
          </a:solidFill>
          <a:ln w="12700">
            <a:solidFill>
              <a:srgbClr val="4A78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961120" y="5490972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195560" y="54681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313A"/>
                </a:solidFill>
              </a:rPr>
              <a:t>30 days</a:t>
            </a:r>
            <a:endParaRPr lang="en-US" sz="9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 fontScale="92500" lnSpcReduction="20000"/>
          </a:bodyPr>
          <a:lstStyle>
            <a:lvl1pPr>
              <a:defRPr sz="800">
                <a:solidFill>
                  <a:srgbClr val="7B74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6692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</a:rPr>
              <a:t>90-day execution and measurement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7782"/>
                </a:solidFill>
              </a:rPr>
              <a:t>Turn the analysis into a repeatable sales-management rhythm.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0632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1755648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50976" y="191109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54480" y="17556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8C28"/>
                </a:solidFill>
              </a:rPr>
              <a:t>Weeks 1-2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24231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Stabilise peak execution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889504"/>
            <a:ext cx="26517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7313A"/>
                </a:solidFill>
              </a:rPr>
              <a:t>Confirm product availability by time slot; introduce daily stock-out and waste tracking.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69080" y="1508760"/>
            <a:ext cx="30632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70248" y="1755648"/>
            <a:ext cx="548640" cy="548640"/>
          </a:xfrm>
          <a:prstGeom prst="ellipse">
            <a:avLst/>
          </a:prstGeom>
          <a:solidFill>
            <a:srgbClr val="4C8A71"/>
          </a:solidFill>
          <a:ln w="12700">
            <a:solidFill>
              <a:srgbClr val="4C8A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79976" y="191109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83480" y="17556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8A71"/>
                </a:solidFill>
              </a:rPr>
              <a:t>Weeks 3-6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70248" y="24231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Run controlled pilots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70248" y="2889504"/>
            <a:ext cx="26517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7313A"/>
                </a:solidFill>
              </a:rPr>
              <a:t>Test beverage-bakery bundles and afternoon offers by store; retain control groups where possible.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98080" y="1508760"/>
            <a:ext cx="30632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ED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699248" y="1755648"/>
            <a:ext cx="548640" cy="548640"/>
          </a:xfrm>
          <a:prstGeom prst="ellipse">
            <a:avLst/>
          </a:prstGeom>
          <a:solidFill>
            <a:srgbClr val="4A789C"/>
          </a:solidFill>
          <a:ln w="12700">
            <a:solidFill>
              <a:srgbClr val="4A78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08976" y="191109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412480" y="17556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789C"/>
                </a:solidFill>
              </a:rPr>
              <a:t>Weeks 7-12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99248" y="24231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Scale what works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99248" y="2889504"/>
            <a:ext cx="26517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7313A"/>
                </a:solidFill>
              </a:rPr>
              <a:t>Roll out profitable offers, replicate store best practices and automate weekly reporting.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" y="4069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Core KPI scorecard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8368" y="4553712"/>
            <a:ext cx="3337560" cy="502920"/>
          </a:xfrm>
          <a:prstGeom prst="roundRect">
            <a:avLst>
              <a:gd name="adj" fmla="val 7273"/>
            </a:avLst>
          </a:prstGeom>
          <a:solidFill>
            <a:srgbClr val="FFF2E4"/>
          </a:solidFill>
          <a:ln w="12700">
            <a:solidFill>
              <a:srgbClr val="F1C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5528" y="464515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324D"/>
                </a:solidFill>
              </a:rPr>
              <a:t>Revenue growth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07208" y="46542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7782"/>
                </a:solidFill>
              </a:rPr>
              <a:t>Weekly / monthly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361688" y="4553712"/>
            <a:ext cx="3337560" cy="502920"/>
          </a:xfrm>
          <a:prstGeom prst="roundRect">
            <a:avLst>
              <a:gd name="adj" fmla="val 7273"/>
            </a:avLst>
          </a:prstGeom>
          <a:solidFill>
            <a:srgbClr val="FFF2E4"/>
          </a:solidFill>
          <a:ln w="12700">
            <a:solidFill>
              <a:srgbClr val="F1C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98848" y="464515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324D"/>
                </a:solidFill>
              </a:rPr>
              <a:t>Average transaction value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10528" y="46542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7782"/>
                </a:solidFill>
              </a:rPr>
              <a:t>Daily / store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8065008" y="4553712"/>
            <a:ext cx="3337560" cy="502920"/>
          </a:xfrm>
          <a:prstGeom prst="roundRect">
            <a:avLst>
              <a:gd name="adj" fmla="val 7273"/>
            </a:avLst>
          </a:prstGeom>
          <a:solidFill>
            <a:srgbClr val="FFF2E4"/>
          </a:solidFill>
          <a:ln w="12700">
            <a:solidFill>
              <a:srgbClr val="F1C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02168" y="464515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324D"/>
                </a:solidFill>
              </a:rPr>
              <a:t>Units per transaction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213848" y="46542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7782"/>
                </a:solidFill>
              </a:rPr>
              <a:t>Daily / time slot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58368" y="5212080"/>
            <a:ext cx="3337560" cy="502920"/>
          </a:xfrm>
          <a:prstGeom prst="roundRect">
            <a:avLst>
              <a:gd name="adj" fmla="val 7273"/>
            </a:avLst>
          </a:prstGeom>
          <a:solidFill>
            <a:srgbClr val="EAF0F5"/>
          </a:solidFill>
          <a:ln w="12700">
            <a:solidFill>
              <a:srgbClr val="C3D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95528" y="530352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324D"/>
                </a:solidFill>
              </a:rPr>
              <a:t>Bakery attach rate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807208" y="53126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7782"/>
                </a:solidFill>
              </a:rPr>
              <a:t>Daily / store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361688" y="5212080"/>
            <a:ext cx="3337560" cy="502920"/>
          </a:xfrm>
          <a:prstGeom prst="roundRect">
            <a:avLst>
              <a:gd name="adj" fmla="val 7273"/>
            </a:avLst>
          </a:prstGeom>
          <a:solidFill>
            <a:srgbClr val="EAF0F5"/>
          </a:solidFill>
          <a:ln w="12700">
            <a:solidFill>
              <a:srgbClr val="C3D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498848" y="530352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324D"/>
                </a:solidFill>
              </a:rPr>
              <a:t>Stock-out &amp; waste rate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10528" y="53126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7782"/>
                </a:solidFill>
              </a:rPr>
              <a:t>Daily / product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065008" y="5212080"/>
            <a:ext cx="3337560" cy="502920"/>
          </a:xfrm>
          <a:prstGeom prst="roundRect">
            <a:avLst>
              <a:gd name="adj" fmla="val 7273"/>
            </a:avLst>
          </a:prstGeom>
          <a:solidFill>
            <a:srgbClr val="EAF0F5"/>
          </a:solidFill>
          <a:ln w="12700">
            <a:solidFill>
              <a:srgbClr val="C3D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202168" y="530352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324D"/>
                </a:solidFill>
              </a:rPr>
              <a:t>Offer uplift &amp; margin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213848" y="53126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F7782"/>
                </a:solidFill>
              </a:rPr>
              <a:t>Per campaign</a:t>
            </a:r>
            <a:endParaRPr lang="en-US" sz="75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9672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 fontScale="92500" lnSpcReduction="20000"/>
          </a:bodyPr>
          <a:lstStyle>
            <a:lvl1pPr>
              <a:defRPr sz="800">
                <a:solidFill>
                  <a:srgbClr val="7B74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growth opportunity is clear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9808" y="1600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E0E8"/>
                </a:solidFill>
              </a:rPr>
              <a:t>Win the morning. Increase basket size. Build demand in softer time slots.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49808" y="2743200"/>
            <a:ext cx="2971800" cy="1325880"/>
          </a:xfrm>
          <a:prstGeom prst="roundRect">
            <a:avLst>
              <a:gd name="adj" fmla="val 4138"/>
            </a:avLst>
          </a:prstGeom>
          <a:solidFill>
            <a:srgbClr val="203E59"/>
          </a:solidFill>
          <a:ln w="12700">
            <a:solidFill>
              <a:srgbClr val="4660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2688" y="3017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28C28"/>
                </a:solidFill>
              </a:rPr>
              <a:t>55.6%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78408" y="352958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of revenue before noon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178808" y="2743200"/>
            <a:ext cx="2971800" cy="1325880"/>
          </a:xfrm>
          <a:prstGeom prst="roundRect">
            <a:avLst>
              <a:gd name="adj" fmla="val 4138"/>
            </a:avLst>
          </a:prstGeom>
          <a:solidFill>
            <a:srgbClr val="203E59"/>
          </a:solidFill>
          <a:ln w="12700">
            <a:solidFill>
              <a:srgbClr val="4660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61688" y="3017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28C28"/>
                </a:solidFill>
              </a:rPr>
              <a:t>R4.69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407408" y="352958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average transaction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607808" y="2743200"/>
            <a:ext cx="2971800" cy="1325880"/>
          </a:xfrm>
          <a:prstGeom prst="roundRect">
            <a:avLst>
              <a:gd name="adj" fmla="val 4138"/>
            </a:avLst>
          </a:prstGeom>
          <a:solidFill>
            <a:srgbClr val="203E59"/>
          </a:solidFill>
          <a:ln w="12700">
            <a:solidFill>
              <a:srgbClr val="4660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90688" y="3017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28C28"/>
                </a:solidFill>
              </a:rPr>
              <a:t>+103.8%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7836408" y="352958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June revenue vs January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5166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Thank you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68096" y="5696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8C28"/>
                </a:solidFill>
              </a:rPr>
              <a:t>Questions and discussion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41</TotalTime>
  <Words>894</Words>
  <Application>Microsoft Office PowerPoint</Application>
  <PresentationFormat>Widescreen</PresentationFormat>
  <Paragraphs>192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Century Schoolbook</vt:lpstr>
      <vt:lpstr>Wingdings 2</vt:lpstr>
      <vt:lpstr>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Bright Coffee 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Coffee Shop Sales Analysis</dc:title>
  <dc:subject>Bright Coffee Shop Sales Analysis</dc:subject>
  <dc:creator>Cynthia Phakela</dc:creator>
  <cp:lastModifiedBy>Cynthia Phakela</cp:lastModifiedBy>
  <cp:revision>1</cp:revision>
  <dcterms:created xsi:type="dcterms:W3CDTF">2026-08-01T12:36:43Z</dcterms:created>
  <dcterms:modified xsi:type="dcterms:W3CDTF">2026-08-02T17:44:25Z</dcterms:modified>
</cp:coreProperties>
</file>